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ORION is an institutional-style quantitative foreign exchange research and paper-trading platform. Today's walkthrough covers the platform's architectural, mathematical, and operational capabilities. We emphasize that this platform operates strictly in paper-trading simulation mode with deterministic market data and zero live financial capital at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ORION delivers a complete SaaS architecture. Subscription plans, quotas, and paper-account entitlements are enforced in code through our EntitlementService across four distinct tiers. Commercial subscriptions operate in Stripe Test Mode with zero customer capital exposed.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ORION workflow enforces strict mathematical hygiene. Strategies cannot enter paper trading without passing quantitative quality gates, filtering out overfitted algorithms before they ever touch simulated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the hood, Project ORION follows hexagonal architecture principles. The twenty-one domain packages are entirely decoupled from web frameworks and databases, ensuring quantitative algorithms remain mathematically isolated and portable.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research engine implements four concrete algorithmic strategy classes in its core registry, supported by a nine-archetype parameter catalogue in the API. All financial arithmetic uses arbitrary-precision Decimal types, avoiding binary floating-point rounding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Backtesting integrity relies on LeakageGuard, which enforces temporal monotonicity at each step, preventing look-ahead contamination during sequential bar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combat curve-fitting, ORION provides rolling Walk-Forward Analysis. By comparing optimized parameter performance against out-of-sample data across multiple windows, the system calculates Walk-Forward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deployment pipeline enforces institutional governance. Strategies must pass programmatic quality gates before entering incubation, and the pipeline strictly terminates at paper validation with zero live brokerage execution pathways.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demonstrated execution path uses simulated paper capital only, with $0.00 live financial capital at risk. Pre-trade risk controls dynamically evaluate margin and leverage before any order is accepted.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ORION runs self-contained by default using deterministic synthetic market data. Integration adapters for external providers like TwelveData and OANDA Practice are fully implemented and activate when the operator supplies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Multi-tenancy is enforced at the database query level. The platform implements seven organization-level RBAC roles governing forty-one granular permissions across all operational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controls include strict HTTP headers, rate limiting, and an immutable audit trail capturing platform actions with structured contextual JSON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ORION deploys declaratively via Render blueprint for an approximately fourteen dollar monthly configuration estimate. In isolated disaster recovery testing, physical database restoration across twenty-nine tables was benchmarked in roughly seven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technical asset includes clean Git commit history, a documented historical baseline of over four thousand two hundred automated tests, and eighteen comprehensive closing dossiers covering every area of due diligence.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proposed acquisition scope includes complete source code and IP deliverables. Third-party vendor services like Render and Stripe are provisioned directly by the buyer under their corporate identity, ensuring clean vendor separation.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PROJECT ORION  │  ACQUISITION DUE DILIGENCE  │  SLIDE 1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Project ORION — Quantitative FX Research &amp; Paper-Trading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Multi-Tenant Quantitative Engine, Deterministic Backtesting &amp; Simulated Execution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Baseline: d5908d0a │ STRICT PAPER TRADING ONLY │ $0.00 Live Financial Capital at Risk │ Proposed Transferable Software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5486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PROPRIETARY TECHNOLOGY ASSET</a:t>
            </a: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Segoe UI"/>
              </a:defRPr>
            </a:pPr>
            <a:r>
              <a:t>Institutional Quantitative Workflow in Pure Software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• Core Asset: </a:t>
            </a:r>
            <a:r>
              <a:rPr b="0">
                <a:solidFill>
                  <a:srgbClr val="F8FAFC"/>
                </a:solidFill>
              </a:rPr>
              <a:t>Complete proprietary source code repository in Python 3.11+ &amp; React 18.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• Capital Safety Invariant: </a:t>
            </a:r>
            <a:r>
              <a:rPr b="0">
                <a:solidFill>
                  <a:srgbClr val="F8FAFC"/>
                </a:solidFill>
              </a:rPr>
              <a:t>Strict paper-trading execution model with exactly $0.00 live financial capital at risk.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• Research Integrity: </a:t>
            </a:r>
            <a:r>
              <a:rPr b="0">
                <a:solidFill>
                  <a:srgbClr val="F8FAFC"/>
                </a:solidFill>
              </a:rPr>
              <a:t>Chronological deterministic backtesting with LeakageGuard temporal protection.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• Optimization Robustness: </a:t>
            </a:r>
            <a:r>
              <a:rPr b="0">
                <a:solidFill>
                  <a:srgbClr val="F8FAFC"/>
                </a:solidFill>
              </a:rPr>
              <a:t>Multi-window Walk-Forward Analysis computing Walk-Forward Efficiency (WFE).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• Transaction Deliverables: </a:t>
            </a:r>
            <a:r>
              <a:rPr b="0">
                <a:solidFill>
                  <a:srgbClr val="F8FAFC"/>
                </a:solidFill>
              </a:rPr>
              <a:t>Full Git commit provenance, automated test harness, and 18 closing due diligence dossiers.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920240"/>
            <a:ext cx="1828800" cy="1143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01168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21</a:t>
            </a:r>
          </a:p>
          <a:p>
            <a:pPr>
              <a:defRPr sz="850" b="1">
                <a:solidFill>
                  <a:srgbClr val="F8FAFC"/>
                </a:solidFill>
                <a:latin typeface="Consolas"/>
              </a:defRPr>
            </a:pPr>
            <a:r>
              <a:t>DOMAIN PACKAGES</a:t>
            </a:r>
          </a:p>
          <a:p>
            <a:pPr>
              <a:defRPr sz="750">
                <a:solidFill>
                  <a:srgbClr val="94A3B8"/>
                </a:solidFill>
                <a:latin typeface="Segoe UI"/>
              </a:defRPr>
            </a:pPr>
            <a:r>
              <a:t>Modular Hexagonal Monorepo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920240"/>
            <a:ext cx="1828800" cy="1143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19" y="201168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24</a:t>
            </a:r>
          </a:p>
          <a:p>
            <a:pPr>
              <a:defRPr sz="850" b="1">
                <a:solidFill>
                  <a:srgbClr val="F8FAFC"/>
                </a:solidFill>
                <a:latin typeface="Consolas"/>
              </a:defRPr>
            </a:pPr>
            <a:r>
              <a:t>FASTAPI ROUTERS</a:t>
            </a:r>
          </a:p>
          <a:p>
            <a:pPr>
              <a:defRPr sz="750">
                <a:solidFill>
                  <a:srgbClr val="94A3B8"/>
                </a:solidFill>
                <a:latin typeface="Segoe UI"/>
              </a:defRPr>
            </a:pPr>
            <a:r>
              <a:t>Pydantic v2 Typed Schemas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200400"/>
            <a:ext cx="1828800" cy="1143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29184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4,260</a:t>
            </a:r>
          </a:p>
          <a:p>
            <a:pPr>
              <a:defRPr sz="850" b="1">
                <a:solidFill>
                  <a:srgbClr val="F8FAFC"/>
                </a:solidFill>
                <a:latin typeface="Consolas"/>
              </a:defRPr>
            </a:pPr>
            <a:r>
              <a:t>TESTS (HISTORICAL)</a:t>
            </a:r>
          </a:p>
          <a:p>
            <a:pPr>
              <a:defRPr sz="750">
                <a:solidFill>
                  <a:srgbClr val="94A3B8"/>
                </a:solidFill>
                <a:latin typeface="Segoe UI"/>
              </a:defRPr>
            </a:pPr>
            <a:r>
              <a:t>99.4% Test Coverage Baseline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3200400"/>
            <a:ext cx="1828800" cy="1143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19" y="329184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Segoe UI"/>
              </a:defRPr>
            </a:pPr>
            <a:r>
              <a:t>18</a:t>
            </a:r>
          </a:p>
          <a:p>
            <a:pPr>
              <a:defRPr sz="850" b="1">
                <a:solidFill>
                  <a:srgbClr val="F8FAFC"/>
                </a:solidFill>
                <a:latin typeface="Consolas"/>
              </a:defRPr>
            </a:pPr>
            <a:r>
              <a:t>DUE DILIGENCE DOSSIERS</a:t>
            </a:r>
          </a:p>
          <a:p>
            <a:pPr>
              <a:defRPr sz="750">
                <a:solidFill>
                  <a:srgbClr val="94A3B8"/>
                </a:solidFill>
                <a:latin typeface="Segoe UI"/>
              </a:defRPr>
            </a:pPr>
            <a:r>
              <a:t>Comprehensive Data Room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4480560"/>
            <a:ext cx="1828800" cy="1143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457200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~$14/mo</a:t>
            </a:r>
          </a:p>
          <a:p>
            <a:pPr>
              <a:defRPr sz="850" b="1">
                <a:solidFill>
                  <a:srgbClr val="F8FAFC"/>
                </a:solidFill>
                <a:latin typeface="Consolas"/>
              </a:defRPr>
            </a:pPr>
            <a:r>
              <a:t>HOSTING ESTIMATE</a:t>
            </a:r>
          </a:p>
          <a:p>
            <a:pPr>
              <a:defRPr sz="750">
                <a:solidFill>
                  <a:srgbClr val="94A3B8"/>
                </a:solidFill>
                <a:latin typeface="Segoe UI"/>
              </a:defRPr>
            </a:pPr>
            <a:r>
              <a:t>PaaS Baseline Cloud Config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4480560"/>
            <a:ext cx="1828800" cy="1143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457200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Segoe UI"/>
              </a:defRPr>
            </a:pPr>
            <a:r>
              <a:t>$0.00</a:t>
            </a:r>
          </a:p>
          <a:p>
            <a:pPr>
              <a:defRPr sz="850" b="1">
                <a:solidFill>
                  <a:srgbClr val="F8FAFC"/>
                </a:solidFill>
                <a:latin typeface="Consolas"/>
              </a:defRPr>
            </a:pPr>
            <a:r>
              <a:t>LIVE CAPITAL RISK</a:t>
            </a:r>
          </a:p>
          <a:p>
            <a:pPr>
              <a:defRPr sz="750">
                <a:solidFill>
                  <a:srgbClr val="94A3B8"/>
                </a:solidFill>
                <a:latin typeface="Segoe UI"/>
              </a:defRPr>
            </a:pPr>
            <a:r>
              <a:t>Permanent Paper Safety Invariant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PROJECT ORION  │  ACQUISITION DUE DILIGENCE  │  SLIDE 2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What the Software Is — Quantitative Platform &amp; Multi-Tier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Four Authoritative Subscription Tiers Enforced in Source Code (Stripe Test Mode)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Baseline: d5908d0a │ STRICT PAPER TRADING ONLY │ $0.00 Live Financial Capital at Risk │ Proposed Transferable Software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14600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FREE SANDBOX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Segoe UI"/>
              </a:defRPr>
            </a:pPr>
            <a:r>
              <a:t>$0</a:t>
            </a:r>
            <a:r>
              <a:rPr sz="1100" b="0">
                <a:solidFill>
                  <a:srgbClr val="94A3B8"/>
                </a:solidFill>
              </a:rPr>
              <a:t> / month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Self-service onboarding &amp; evaluation</a:t>
            </a:r>
          </a:p>
          <a:p>
            <a:pPr>
              <a:defRPr sz="700">
                <a:solidFill>
                  <a:srgbClr val="334155"/>
                </a:solidFill>
              </a:defRPr>
            </a:pPr>
            <a:r>
              <a:t>──────────────────────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1 Paper Account ($100k virtual balance)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100 Daily Orders Cap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0 Autonomous Trading Workers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4 Major FX Pairs Supported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30-Day Data Retention Window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Manual Strategy Parameterization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645920"/>
            <a:ext cx="2514600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17830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PRO TRADER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Segoe UI"/>
              </a:defRPr>
            </a:pPr>
            <a:r>
              <a:t>$99</a:t>
            </a:r>
            <a:r>
              <a:rPr sz="1100" b="0">
                <a:solidFill>
                  <a:srgbClr val="94A3B8"/>
                </a:solidFill>
              </a:rPr>
              <a:t> / month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Individual quantitative quants &amp; active traders</a:t>
            </a:r>
          </a:p>
          <a:p>
            <a:pPr>
              <a:defRPr sz="700">
                <a:solidFill>
                  <a:srgbClr val="334155"/>
                </a:solidFill>
              </a:defRPr>
            </a:pPr>
            <a:r>
              <a:t>──────────────────────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3 Paper Accounts with Custom Sizing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2,500 Daily Orders Cap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1 Autonomous Trading Worker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12 Liquid FX Pairs Supported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365-Day Historical Data Retention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Walk-Forward Analysis &amp; 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45920"/>
            <a:ext cx="2514600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7830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onsolas"/>
              </a:defRPr>
            </a:pPr>
            <a:r>
              <a:t>BUSINESS PROP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Segoe UI"/>
              </a:defRPr>
            </a:pPr>
            <a:r>
              <a:t>$299</a:t>
            </a:r>
            <a:r>
              <a:rPr sz="1100" b="0">
                <a:solidFill>
                  <a:srgbClr val="94A3B8"/>
                </a:solidFill>
              </a:rPr>
              <a:t> / month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Prop desks, family offices &amp; small quant funds</a:t>
            </a:r>
          </a:p>
          <a:p>
            <a:pPr>
              <a:defRPr sz="700">
                <a:solidFill>
                  <a:srgbClr val="334155"/>
                </a:solidFill>
              </a:defRPr>
            </a:pPr>
            <a:r>
              <a:t>──────────────────────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10 Paper Accounts across Portfolios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50,000 Daily Orders Cap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5 Autonomous Trading Workers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All FX Pairs &amp; Synthetic Baskets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5-Year Historical Data Retention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Multi-User RBAC &amp; Audit Trails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1645920"/>
            <a:ext cx="2514600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17830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onsolas"/>
              </a:defRPr>
            </a:pPr>
            <a:r>
              <a:t>ENTERPRISE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Custom</a:t>
            </a:r>
            <a:r>
              <a:rPr sz="1100" b="0">
                <a:solidFill>
                  <a:srgbClr val="94A3B8"/>
                </a:solidFill>
              </a:rPr>
              <a:t> contract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Institutional firms requiring dedicated deployment</a:t>
            </a:r>
          </a:p>
          <a:p>
            <a:pPr>
              <a:defRPr sz="700">
                <a:solidFill>
                  <a:srgbClr val="334155"/>
                </a:solidFill>
              </a:defRPr>
            </a:pPr>
            <a:r>
              <a:t>──────────────────────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Unlimited Paper Accounts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Unlimited Daily Orders Capacity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Custom Worker Process Pool Allocation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Full Cross-Asset &amp; Custom Ingestion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7-Year Regulatory Retention Archive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✓ Custom RBAC &amp; White-Label Theming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PROJECT ORION  │  ACQUISITION DUE DILIGENCE  │  SLIDE 3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Product Workflow — 5-Stage Research &amp; Incubation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From Mathematical Formulation to Paper Incubation with Automated Quality Gate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Baseline: d5908d0a │ STRICT PAPER TRADING ONLY │ $0.00 Live Financial Capital at Risk │ Proposed Transferable Software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993392" cy="34747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83080"/>
            <a:ext cx="177393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STAGE 1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Specification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Strategy Formulation</a:t>
            </a:r>
          </a:p>
          <a:p>
            <a:pPr>
              <a:defRPr sz="700">
                <a:solidFill>
                  <a:srgbClr val="334155"/>
                </a:solidFill>
              </a:defRPr>
            </a:pPr>
            <a:r>
              <a:t>──────────────────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4 concrete classes in StrategyRegistry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9 API catalogue archetype schemas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Indicator &amp; threshold parameter bounds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Python Decimal financial arithmetic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645920"/>
            <a:ext cx="1993392" cy="34747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783080"/>
            <a:ext cx="177393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STAGE 2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Deterministic Backtest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Chronological Replay</a:t>
            </a:r>
          </a:p>
          <a:p>
            <a:pPr>
              <a:defRPr sz="700">
                <a:solidFill>
                  <a:srgbClr val="334155"/>
                </a:solidFill>
              </a:defRPr>
            </a:pPr>
            <a:r>
              <a:t>──────────────────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DeterministicBacktestEngine traversal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LeakageGuard temporal monotonicity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Sharpe, Sortino, Max Drawdown metrics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Identical cent-level reproducibility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645920"/>
            <a:ext cx="1993392" cy="34747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1783080"/>
            <a:ext cx="177393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STAGE 3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Optimization &amp; WFA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Robustness Scoring</a:t>
            </a:r>
          </a:p>
          <a:p>
            <a:pPr>
              <a:defRPr sz="700">
                <a:solidFill>
                  <a:srgbClr val="334155"/>
                </a:solidFill>
              </a:defRPr>
            </a:pPr>
            <a:r>
              <a:t>──────────────────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Multi-parameter space grid search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Rolling In-Sample &amp; Out-Of-Sample slices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Walk-Forward Efficiency (WFE) score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Parameter surface stability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645920"/>
            <a:ext cx="1993392" cy="34747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0064" y="1783080"/>
            <a:ext cx="177393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STAGE 4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Quality Gates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Automated Governance</a:t>
            </a:r>
          </a:p>
          <a:p>
            <a:pPr>
              <a:defRPr sz="700">
                <a:solidFill>
                  <a:srgbClr val="334155"/>
                </a:solidFill>
              </a:defRPr>
            </a:pPr>
            <a:r>
              <a:t>──────────────────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WFE Threshold Hurdle (WFE ≥ 0.50)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Max Permissible Drawdown (DD ≤ 15%)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Parameter Surface Variance check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Fail-closed GATES_FAILED transition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1645920"/>
            <a:ext cx="1993392" cy="34747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6336" y="1783080"/>
            <a:ext cx="177393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Consolas"/>
              </a:defRPr>
            </a:pPr>
            <a:r>
              <a:t>STAGE 5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Paper Incubation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Simulated Execution</a:t>
            </a:r>
          </a:p>
          <a:p>
            <a:pPr>
              <a:defRPr sz="700">
                <a:solidFill>
                  <a:srgbClr val="334155"/>
                </a:solidFill>
              </a:defRPr>
            </a:pPr>
            <a:r>
              <a:t>──────────────────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PaperExecutionAdapter matching engine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Realistic spread, slippage &amp; latency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Simulated mark-to-market valuations</a:t>
            </a:r>
          </a:p>
          <a:p>
            <a:pPr>
              <a:spcBef>
                <a:spcPts val="400"/>
              </a:spcBef>
              <a:defRPr sz="880">
                <a:solidFill>
                  <a:srgbClr val="F8FAFC"/>
                </a:solidFill>
                <a:latin typeface="Segoe UI"/>
              </a:defRPr>
            </a:pPr>
            <a:r>
              <a:t>• Strict termination at $0.00 Live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BBF24"/>
                </a:solidFill>
                <a:latin typeface="Consolas"/>
              </a:defRPr>
            </a:pPr>
            <a:r>
              <a:t>STRICT SAFETY INVARIANT — ZERO LIVE FINANCIAL CAPITAL EXPOSURE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The deployment pipeline strictly terminates at paper validation or promotion candidate status. Live real-money broker execution code is absent from the software. Exactly $0.00 live financial capital is exposed at any stage.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PROJECT ORION  │  ACQUISITION DUE DILIGENCE  │  SLIDE 4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Architecture Overview — Hexagonal Modular Decoupling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Ports and Adapters Architecture Isolating 21 Pure Domain Packages from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Baseline: d5908d0a │ STRICT PAPER TRADING ONLY │ $0.00 Live Financial Capital at Risk │ Proposed Transferable Software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841248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1907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onsolas"/>
              </a:defRPr>
            </a:pPr>
            <a:r>
              <a:t>1. PRESENTATION LAYER</a:t>
            </a:r>
            <a:r>
              <a:rPr sz="1050" b="1">
                <a:solidFill>
                  <a:srgbClr val="F8FAFC"/>
                </a:solidFill>
                <a:latin typeface="Segoe UI"/>
              </a:rPr>
              <a:t>  │  React 18 Single-Page Application (apps/dashboard/)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Built with TypeScript, Vite, Tailwind CSS, TanStack Query, and Lucide Icons • 20 client routes: Marketing, Auth, Terminal, Research, Optimization, Deployments, Admin • Status: [INTERNAL] — Complete frontend repository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728655" cy="841248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3347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onsolas"/>
              </a:defRPr>
            </a:pPr>
            <a:r>
              <a:t>2. API &amp; DELIVERY LAYER</a:t>
            </a:r>
            <a:r>
              <a:rPr sz="1050" b="1">
                <a:solidFill>
                  <a:srgbClr val="F8FAFC"/>
                </a:solidFill>
                <a:latin typeface="Segoe UI"/>
              </a:rPr>
              <a:t>  │  FastAPI ASGI Web Application (apps/trading-engine/)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24 modular routers assembling endpoints with Pydantic v2 schemas and dependency injection • Security headers middleware (HSTS, CSP, X-Frame DENY) &amp; correlation ID request tracing • Status: [INTERNAL] — High-performance asynchronous API factory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10728655" cy="841248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4787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onsolas"/>
              </a:defRPr>
            </a:pPr>
            <a:r>
              <a:t>3. APPLICATION SERVICES</a:t>
            </a:r>
            <a:r>
              <a:rPr sz="1050" b="1">
                <a:solidFill>
                  <a:srgbClr val="F8FAFC"/>
                </a:solidFill>
                <a:latin typeface="Segoe UI"/>
              </a:rPr>
              <a:t>  │  Orchestration &amp; Workflow Coordination (src/services/)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OrderService, ResearchService, OptimizationService, DeploymentPipelineService • EntitlementService enforcing 4-tier quotas; SubscriptionService handling Stripe test webhooks • Status: [INTERNAL] — Transactional session and service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728655" cy="841248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4. DOMAIN LOGIC LAYER</a:t>
            </a:r>
            <a:r>
              <a:rPr sz="1050" b="1">
                <a:solidFill>
                  <a:srgbClr val="F8FAFC"/>
                </a:solidFill>
                <a:latin typeface="Segoe UI"/>
              </a:rPr>
              <a:t>  │  21 Pure Internal Domain Packages (libraries/domain/)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Zero database or web framework dependencies; portable quantitative algorithms • StrategyRegistry (4 concrete classes, 9 API profiles), RiskEngine, DeploymentLifecycle • Status: [INTERNAL] — High-value proprietary intellectual property 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728655" cy="841248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7667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5. INFRASTRUCTURE &amp; ADAPTERS</a:t>
            </a:r>
            <a:r>
              <a:rPr sz="1050" b="1">
                <a:solidFill>
                  <a:srgbClr val="F8FAFC"/>
                </a:solidFill>
                <a:latin typeface="Segoe UI"/>
              </a:rPr>
              <a:t>  │  Decoupled Persistence, Hardware &amp; Execution Adapters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Persistence: SQLAlchemy 2.0 Async ORM + PostgreSQL 16 (29 tables) [INTERNAL] • Simulated Matching: PaperExecutionAdapter (spread, slippage, $0 risk) [SIMULATED] • Market Data: MockMarketDataProvider [SIMULATED] │ TwelveData Provider [EXTERNAL] • Broker Sandbox: OandaBrokerAdapter [EXTERNAL] │ WorkerCoordinator [DISABLED BY DEFAULT]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PROJECT ORION  │  ACQUISITION DUE DILIGENCE  │  SLIDE 5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Quantitative Research Engine — Strategies &amp; Precision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4 Concrete Backtesting Classes in StrategyRegistry &amp; 9 Archetype API Catalogue 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Baseline: d5908d0a │ STRICT PAPER TRADING ONLY │ $0.00 Live Financial Capital at Risk │ Proposed Transferable Software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CORE STRATEGY REGISTRY (4 Concrete Classes)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Consolas"/>
              </a:defRPr>
            </a:pPr>
            <a:r>
              <a:t>• TrendFollowingStrategy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Dual Exponential Moving Average (EMA) crossover with dynamic Average True Range (ATR) volatility trailing stop loss.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Consolas"/>
              </a:defRPr>
            </a:pPr>
            <a:r>
              <a:t>• MeanReversionStrategy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Bollinger Bands volatility envelopes with Relative Strength Index (RSI) multi-timeframe oscillator reversion triggers.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Consolas"/>
              </a:defRPr>
            </a:pPr>
            <a:r>
              <a:t>• BreakoutStrategy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Donchian Channel multi-bar price breakout with volume-spread expansion filtering and volatility expansion confirmation.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Consolas"/>
              </a:defRPr>
            </a:pPr>
            <a:r>
              <a:t>• MomentumStrategy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Moving Average Convergence Divergence (MACD) signal line crossover paired with Stochastic momentum divergence confirmation.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45920"/>
            <a:ext cx="5212080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onsolas"/>
              </a:defRPr>
            </a:pPr>
            <a:r>
              <a:t>API CATALOGUE SPECIFICATION (9 Profiles)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1. Trend Following (EMA Crossover + ATR)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2. Mean Reversion (Bollinger Bands + RSI)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3. Breakout (Donchian Channel + Volume)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4. Momentum (MACD + Stochastic)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5. Carry Trade (Interest Differential Scoring)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6. Volatility Breakout (Keltner Channels)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7. Statistical Arbitrage (Cointegrated Pairs)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8. News Event Momentum (Economic Calendar)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9. Machine Learning Classifier (Feature Vectors)</a:t>
            </a:r>
          </a:p>
          <a:p>
            <a:pPr>
              <a:spcBef>
                <a:spcPts val="800"/>
              </a:spcBef>
              <a:defRPr sz="1000" b="1">
                <a:solidFill>
                  <a:srgbClr val="FBBF24"/>
                </a:solidFill>
                <a:latin typeface="Consolas"/>
              </a:defRPr>
            </a:pPr>
            <a:r>
              <a:t>ARBITRARY-PRECISION DECIMAL ARITHMETIC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All account balances, lots, pip values, execution fills, and P&amp;L metrics strictly use Python Decimal arithmetic to avoid binary floating-point rounding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PROJECT ORION  │  ACQUISITION DUE DILIGENCE  │  SLIDE 6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Backtesting &amp; Temporal Leakage Controls — Mathematical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Deterministic Historical Bar Traversal Protected by LeakageGuard Monotonicity Enforcement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Baseline: d5908d0a │ STRICT PAPER TRADING ONLY │ $0.00 Live Financial Capital at Risk │ Proposed Transferable Software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49377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onsolas"/>
              </a:defRPr>
            </a:pPr>
            <a:r>
              <a:t>CHRONOLOGICAL TRAVERSAL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Sequential Bar Processing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DeterministicBacktestEngine steps historical bars in strict chronological sequence (t[0], t[1], ... t[N]).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Zero future lookahead: indicators only compute over historical slices available at bar close.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Simulates realistic bar-by-bar decision making as experienced in live paper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45920"/>
            <a:ext cx="521208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5255" y="1755648"/>
            <a:ext cx="49377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LEAKAGEGUARD DEFENSE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Temporal Monotonicity Enforcement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LeakageGuard.validate_slice() inspects every data window before indicator calculation.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Enforces strict timestamp monotonicity: timestamp[i] &lt;= timestamp[i+1].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Architecturally prevents forward look-ahead bias and data leakage from contaminating backtest validity.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521208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95928"/>
            <a:ext cx="49377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onsolas"/>
              </a:defRPr>
            </a:pPr>
            <a:r>
              <a:t>DETERMINISTIC REPRODUCIBILITY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Exact Cent-Level Equity Curve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Re-running backtests with identical inputs generates mathematically identical equity curves.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No stochastic or random fills in core research mode; fully auditable research journal.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Generates trade-by-trade logs, execution slippage tracking, and time-in-trade distributions.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3886200"/>
            <a:ext cx="521208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5255" y="3995928"/>
            <a:ext cx="49377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PERFORMANCE ANALYTICS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Institutional Risk &amp; Return Metrics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Sharpe Ratio (Annualized excess return relative to standard deviation).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Sortino Ratio (Downside deviation risk measurement).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Maximum Drawdown (Peak-to-trough decline percentage and recovery duration).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Profit Factor (Gross profit divided by gross loss across all trade fills).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PROJECT ORION  │  ACQUISITION DUE DILIGENCE  │  SLIDE 7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Optimization &amp; Walk-Forward Analysis — Detecting Curve-Fitting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Multi-Parameter Grid Search &amp; Rolling In-Sample / Out-Of-Sample Walk-Forward Efficiency (WFE)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Baseline: d5908d0a │ STRICT PAPER TRADING ONLY │ $0.00 Live Financial Capital at Risk │ Proposed Transferable Software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PARAMETER SPACE OPTIMIZATION ENGINE</a:t>
            </a:r>
          </a:p>
          <a:p>
            <a:pPr>
              <a:spcBef>
                <a:spcPts val="800"/>
              </a:spcBef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• Multi-Dimensional Grid Search: </a:t>
            </a:r>
            <a:r>
              <a:rPr b="0">
                <a:solidFill>
                  <a:srgbClr val="F8FAFC"/>
                </a:solidFill>
              </a:rPr>
              <a:t>Explores user-defined parameter permutations (e.g. fast EMA 8-21, slow EMA 21-55, ATR multiplier 1.5-3.0).</a:t>
            </a:r>
          </a:p>
          <a:p>
            <a:pPr>
              <a:spcBef>
                <a:spcPts val="800"/>
              </a:spcBef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• Metric Ranking Objective: </a:t>
            </a:r>
            <a:r>
              <a:rPr b="0">
                <a:solidFill>
                  <a:srgbClr val="F8FAFC"/>
                </a:solidFill>
              </a:rPr>
              <a:t>Candidates ranked automatically by user-selected target function (Sharpe ratio, Sortino ratio, Profit Factor, or Total Return).</a:t>
            </a:r>
          </a:p>
          <a:p>
            <a:pPr>
              <a:spcBef>
                <a:spcPts val="800"/>
              </a:spcBef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• Sensitivity Surface Mapping: </a:t>
            </a:r>
            <a:r>
              <a:rPr b="0">
                <a:solidFill>
                  <a:srgbClr val="F8FAFC"/>
                </a:solidFill>
              </a:rPr>
              <a:t>Evaluates parameter neighbors to ensure optimal regions represent stable plateaus rather than isolated overfitted spikes.</a:t>
            </a:r>
          </a:p>
          <a:p>
            <a:pPr>
              <a:spcBef>
                <a:spcPts val="800"/>
              </a:spcBef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• REST API Trigger: </a:t>
            </a:r>
            <a:r>
              <a:rPr b="0">
                <a:solidFill>
                  <a:srgbClr val="F8FAFC"/>
                </a:solidFill>
              </a:rPr>
              <a:t>POST /api/v1/optimization/run asynchronous job with status polling and cancel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45920"/>
            <a:ext cx="5212080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onsolas"/>
              </a:defRPr>
            </a:pPr>
            <a:r>
              <a:t>ROLLING WALK-FORWARD ANALYSIS (WFA)</a:t>
            </a:r>
          </a:p>
          <a:p>
            <a:pPr>
              <a:spcBef>
                <a:spcPts val="8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• Rolling Slices: </a:t>
            </a:r>
            <a:r>
              <a:rPr b="0">
                <a:solidFill>
                  <a:srgbClr val="F8FAFC"/>
                </a:solidFill>
              </a:rPr>
              <a:t>Partitions historical candle series into overlapping In-Sample (IS) training windows and subsequent Out-Of-Sample (OOS) testing windows.</a:t>
            </a:r>
          </a:p>
          <a:p>
            <a:pPr>
              <a:spcBef>
                <a:spcPts val="8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• Walk-Forward Efficiency (WFE): </a:t>
            </a:r>
            <a:r>
              <a:rPr b="0">
                <a:solidFill>
                  <a:srgbClr val="F8FAFC"/>
                </a:solidFill>
              </a:rPr>
              <a:t>Computes WFE = (Annualized OOS Return / Annualized IS Return). Quantifies performance retention on unseen future bars.</a:t>
            </a:r>
          </a:p>
          <a:p>
            <a:pPr>
              <a:spcBef>
                <a:spcPts val="8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• Robustness Classification: </a:t>
            </a:r>
            <a:r>
              <a:rPr b="0">
                <a:solidFill>
                  <a:srgbClr val="F8FAFC"/>
                </a:solidFill>
              </a:rPr>
              <a:t>Verdicts categorized as ROBUST (WFE ≥ 0.60), MODERATE (0.40 ≤ WFE &lt; 0.60), or OVERFITTED (WFE &lt; 0.40).</a:t>
            </a:r>
          </a:p>
          <a:p>
            <a:pPr>
              <a:spcBef>
                <a:spcPts val="8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• Quality Gate Prerequisite: </a:t>
            </a:r>
            <a:r>
              <a:rPr b="0">
                <a:solidFill>
                  <a:srgbClr val="F8FAFC"/>
                </a:solidFill>
              </a:rPr>
              <a:t>Only parameter candidates achieving verified WFE scores are eligible to pass deployment quality gates.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PROJECT ORION  │  ACQUISITION DUE DILIGENCE  │  SLIDE 8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Strategy Deployment Lifecycle — Governance &amp; Quality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Fail-Closed State Machine: Automated Evaluation Hurdles Leading Strictly to Paper Incubation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Baseline: d5908d0a │ STRICT PAPER TRADING ONLY │ $0.00 Live Financial Capital at Risk │ Proposed Transferable Software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192024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FAIL-CLOSED STATE MACHINE TRANSITIONS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  <a:latin typeface="Consolas"/>
              </a:defRPr>
            </a:pPr>
            <a:r>
              <a:t>PENDING_GATES  ──[Gates Eval]──&gt;  GATES_PASSED  ──[Incubate]──&gt;  INCUBATING  ──[Validate]──&gt;  PAPER_VALIDATED  ──[Promote]──&gt;  PROMOTION_CANDIDATE</a:t>
            </a:r>
          </a:p>
          <a:p>
            <a:pPr>
              <a:spcBef>
                <a:spcPts val="800"/>
              </a:spcBef>
              <a:defRPr sz="950">
                <a:solidFill>
                  <a:srgbClr val="F43F5E"/>
                </a:solidFill>
                <a:latin typeface="Consolas"/>
              </a:defRPr>
            </a:pPr>
            <a:r>
              <a:t>Terminal / Failure Transitions:  GATES_FAILED (failed hurdles)  │  INCUBATION_FAILED (drawdown breach)  │  CANCELLED  │  SUSPENDED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212080" cy="22402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Consolas"/>
              </a:defRPr>
            </a:pPr>
            <a:r>
              <a:t>AUTOMATED QUALITY GATES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1. Walk-Forward Efficiency (WFE ≥ 0.50): Rejects algorithms demonstrating significant out-of-sample degradation.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2. Drawdown Ceiling (Max DD ≤ 15%): Restricts risk exposure across all evaluated historical testing windows.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3. Parameter Stability Surface: Enforces parameter resilience against neighboring parameter variations.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3749039"/>
            <a:ext cx="5212080" cy="22402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38404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BBF24"/>
                </a:solidFill>
                <a:latin typeface="Consolas"/>
              </a:defRPr>
            </a:pPr>
            <a:r>
              <a:t>ORGANIZATIONAL SEPARATION OF DUTIES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Dual-Role Authorization: Traders formulate and submit strategy candidates; Risk Officers or Portfolio Managers review and promote.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Paper Execution Invariant: The deployment pipeline strictly terminates at paper validation; no live real-money execution transitions exist.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Immutable Audit Recording: All quality gate evaluations and lifecycle state transitions are logged in AuditLogModel.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PROJECT ORION  │  ACQUISITION DUE DILIGENCE  │  SLIDE 9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Paper Trading &amp; Risk Management — Simulated Matching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Pre-Trade Risk Checks, Realistic Spread &amp; Slippage Modeling, and Permanent Paper Stamping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Baseline: d5908d0a │ STRICT PAPER TRADING ONLY │ $0.00 Live Financial Capital at Risk │ Proposed Transferable Software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Consolas"/>
              </a:defRPr>
            </a:pPr>
            <a:r>
              <a:t>PAPER EXECUTION ADAPTER (PaperExecutionAdapter)</a:t>
            </a:r>
          </a:p>
          <a:p>
            <a:pPr>
              <a:spcBef>
                <a:spcPts val="7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Order Types Supported: </a:t>
            </a:r>
            <a:r>
              <a:rPr b="0">
                <a:solidFill>
                  <a:srgbClr val="F8FAFC"/>
                </a:solidFill>
              </a:rPr>
              <a:t>Market, Limit, Stop, and dynamic Trailing Stop orders.</a:t>
            </a:r>
          </a:p>
          <a:p>
            <a:pPr>
              <a:spcBef>
                <a:spcPts val="7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Realistic Transaction Costs: </a:t>
            </a:r>
            <a:r>
              <a:rPr b="0">
                <a:solidFill>
                  <a:srgbClr val="F8FAFC"/>
                </a:solidFill>
              </a:rPr>
              <a:t>Models realistic bid-ask spread and configurable adverse execution slippage.</a:t>
            </a:r>
          </a:p>
          <a:p>
            <a:pPr>
              <a:spcBef>
                <a:spcPts val="7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Position Netting &amp; FIFO: </a:t>
            </a:r>
            <a:r>
              <a:rPr b="0">
                <a:solidFill>
                  <a:srgbClr val="F8FAFC"/>
                </a:solidFill>
              </a:rPr>
              <a:t>Simulates position aggregation, netting, and realized P&amp;L accounting upon exit.</a:t>
            </a:r>
          </a:p>
          <a:p>
            <a:pPr>
              <a:spcBef>
                <a:spcPts val="7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Simulated Mark-to-Market: </a:t>
            </a:r>
            <a:r>
              <a:rPr b="0">
                <a:solidFill>
                  <a:srgbClr val="F8FAFC"/>
                </a:solidFill>
              </a:rPr>
              <a:t>Real-time unrealized P&amp;L calculated on-demand against current simulated market rates.</a:t>
            </a:r>
          </a:p>
          <a:p>
            <a:pPr>
              <a:spcBef>
                <a:spcPts val="7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Permanent Stamping: </a:t>
            </a:r>
            <a:r>
              <a:rPr b="0">
                <a:solidFill>
                  <a:srgbClr val="F8FAFC"/>
                </a:solidFill>
              </a:rPr>
              <a:t>Every database order, fill, and position is permanently stamped with is_paper=True.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45920"/>
            <a:ext cx="5212080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onsolas"/>
              </a:defRPr>
            </a:pPr>
            <a:r>
              <a:t>SYNCHRONOUS PRE-TRADE RISK SERVICE (RiskService)</a:t>
            </a:r>
          </a:p>
          <a:p>
            <a:pPr>
              <a:spcBef>
                <a:spcPts val="7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Leverage Ceiling Enforcement: </a:t>
            </a:r>
            <a:r>
              <a:rPr b="0">
                <a:solidFill>
                  <a:srgbClr val="F8FAFC"/>
                </a:solidFill>
              </a:rPr>
              <a:t>Restricts simulated leverage exposure (default 1:100 cap; customizable by tier).</a:t>
            </a:r>
          </a:p>
          <a:p>
            <a:pPr>
              <a:spcBef>
                <a:spcPts val="7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Available Margin Verification: </a:t>
            </a:r>
            <a:r>
              <a:rPr b="0">
                <a:solidFill>
                  <a:srgbClr val="F8FAFC"/>
                </a:solidFill>
              </a:rPr>
              <a:t>Calculates required initial margin; rejects orders exceeding simulated available balance.</a:t>
            </a:r>
          </a:p>
          <a:p>
            <a:pPr>
              <a:spcBef>
                <a:spcPts val="7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Maximum Position Sizing: </a:t>
            </a:r>
            <a:r>
              <a:rPr b="0">
                <a:solidFill>
                  <a:srgbClr val="F8FAFC"/>
                </a:solidFill>
              </a:rPr>
              <a:t>Restricts maximum single-order and aggregate symbol volume lots.</a:t>
            </a:r>
          </a:p>
          <a:p>
            <a:pPr>
              <a:spcBef>
                <a:spcPts val="7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Daily Account Drawdown Cap: </a:t>
            </a:r>
            <a:r>
              <a:rPr b="0">
                <a:solidFill>
                  <a:srgbClr val="F8FAFC"/>
                </a:solidFill>
              </a:rPr>
              <a:t>Monitors cumulative intraday loss thresholds; halts trading if limit breached.</a:t>
            </a:r>
          </a:p>
          <a:p>
            <a:pPr>
              <a:spcBef>
                <a:spcPts val="7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Zero Live Financial Risk: </a:t>
            </a:r>
            <a:r>
              <a:rPr b="0">
                <a:solidFill>
                  <a:srgbClr val="F8FAFC"/>
                </a:solidFill>
              </a:rPr>
              <a:t>Orders route strictly to internal simulation. Live financial capital at risk is exactly $0.00.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PROJECT ORION  │  ACQUISITION DUE DILIGENCE  │  SLIDE 10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Market Data &amp; Broker Adapter Architecture —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Decoupled Providers: Default Offline Mock, External TwelveData Feed &amp; OANDA Practice Sandbox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Baseline: d5908d0a │ STRICT PAPER TRADING ONLY │ $0.00 Live Financial Capital at Risk │ Proposed Transferable Software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49377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Consolas"/>
              </a:defRPr>
            </a:pPr>
            <a:r>
              <a:t>MockMarketDataProvider</a:t>
            </a:r>
          </a:p>
          <a:p>
            <a:pPr>
              <a:defRPr sz="900" b="1">
                <a:solidFill>
                  <a:srgbClr val="FBBF24"/>
                </a:solidFill>
                <a:latin typeface="Consolas"/>
              </a:defRPr>
            </a:pPr>
            <a:r>
              <a:t>Classification: [SIMULATED / INTERNAL]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Default provider enabling self-contained, offline operation without external API keys.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Generates deterministic synthetic currency bars, spreads, and tick fluctuations.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Enables automated CI/CD test harness execution with deterministic reproducible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45920"/>
            <a:ext cx="521208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5255" y="1755648"/>
            <a:ext cx="49377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Consolas"/>
              </a:defRPr>
            </a:pPr>
            <a:r>
              <a:t>TwelveDataMarketDataProvider</a:t>
            </a:r>
          </a:p>
          <a:p>
            <a:pPr>
              <a:defRPr sz="900" b="1">
                <a:solidFill>
                  <a:srgbClr val="0284C7"/>
                </a:solidFill>
                <a:latin typeface="Consolas"/>
              </a:defRPr>
            </a:pPr>
            <a:r>
              <a:t>Classification: [EXTERNAL PROVIDER]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Implemented REST market data client designed to ingest real-time quotes.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Requires operator-provisioned TWELVE_DATA_API_KEY environment variable.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Decoupled through MarketDataProvider protocol interface; pluggable with any provider.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521208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95928"/>
            <a:ext cx="49377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Consolas"/>
              </a:defRPr>
            </a:pPr>
            <a:r>
              <a:t>OandaBrokerAdapter</a:t>
            </a:r>
          </a:p>
          <a:p>
            <a:pPr>
              <a:defRPr sz="900" b="1">
                <a:solidFill>
                  <a:srgbClr val="38BDF8"/>
                </a:solidFill>
                <a:latin typeface="Consolas"/>
              </a:defRPr>
            </a:pPr>
            <a:r>
              <a:t>Classification: [EXTERNAL PRACTICE SANDBOX]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External sandbox execution adapter connecting to OANDA Practice environment.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Operates with OANDA_ENVIRONMENT=practice for testing API communication protocols.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Strictly restricted to sandbox testing; live production trading is not enabled.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3886200"/>
            <a:ext cx="521208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5255" y="3995928"/>
            <a:ext cx="49377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Consolas"/>
              </a:defRPr>
            </a:pPr>
            <a:r>
              <a:t>AutonomousWorkerCoordinator</a:t>
            </a:r>
          </a:p>
          <a:p>
            <a:pPr>
              <a:defRPr sz="900" b="1">
                <a:solidFill>
                  <a:srgbClr val="F43F5E"/>
                </a:solidFill>
                <a:latin typeface="Consolas"/>
              </a:defRPr>
            </a:pPr>
            <a:r>
              <a:t>Classification: [DISABLED BY DESIGN]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Autonomous strategy execution worker implemented in source code.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Manual execution trigger available via POST /api/v1/worker/run-once endpoint.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Background loop is disabled by default in cloud deployments (WORKER_ENABLED=false).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PROJECT ORION  │  ACQUISITION DUE DILIGENCE  │  SLIDE 11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Multi-Tenancy &amp; Organization-Level RBAC — Access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Relational Tenant Isolation via TenantContext &amp; 7 Distinct RBAC Roles Governing 41 Permissions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Baseline: d5908d0a │ STRICT PAPER TRADING ONLY │ $0.00 Live Financial Capital at Risk │ Proposed Transferable Software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4114800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Consolas"/>
              </a:defRPr>
            </a:pPr>
            <a:r>
              <a:t>TENANT ISOLATION ARCHITECTURE</a:t>
            </a:r>
          </a:p>
          <a:p>
            <a:pPr>
              <a:spcBef>
                <a:spcPts val="7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Relational Bounding: </a:t>
            </a:r>
            <a:r>
              <a:rPr b="0">
                <a:solidFill>
                  <a:srgbClr val="F8FAFC"/>
                </a:solidFill>
              </a:rPr>
              <a:t>Every account, order, fill, position, strategy, and deployment record binds to OrganizationModel.</a:t>
            </a:r>
          </a:p>
          <a:p>
            <a:pPr>
              <a:spcBef>
                <a:spcPts val="7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Dependency-Injected Context: </a:t>
            </a:r>
            <a:r>
              <a:rPr b="0">
                <a:solidFill>
                  <a:srgbClr val="F8FAFC"/>
                </a:solidFill>
              </a:rPr>
              <a:t>TenantContext dependency automatically extracts organization_id from authenticated JWT session.</a:t>
            </a:r>
          </a:p>
          <a:p>
            <a:pPr>
              <a:spcBef>
                <a:spcPts val="7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Query-Level Filtering: </a:t>
            </a:r>
            <a:r>
              <a:rPr b="0">
                <a:solidFill>
                  <a:srgbClr val="F8FAFC"/>
                </a:solidFill>
              </a:rPr>
              <a:t>Database queries enforce WHERE organization_id = :org_id, mitigating cross-tenant data leakage.</a:t>
            </a:r>
          </a:p>
          <a:p>
            <a:pPr>
              <a:spcBef>
                <a:spcPts val="7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Self-Service Registration: </a:t>
            </a:r>
            <a:r>
              <a:rPr b="0">
                <a:solidFill>
                  <a:srgbClr val="F8FAFC"/>
                </a:solidFill>
              </a:rPr>
              <a:t>New registrations provision fresh isolated tenants with dedicated paper accounts.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45920"/>
            <a:ext cx="6339535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783080"/>
            <a:ext cx="597377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Consolas"/>
              </a:defRPr>
            </a:pPr>
            <a:r>
              <a:t>7 ORGANIZATIONAL RBAC ROLES &amp; 41 PERMISSIONS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Consolas"/>
              </a:defRPr>
            </a:pPr>
            <a:r>
              <a:t>OWNER: </a:t>
            </a:r>
            <a:r>
              <a:rPr sz="900" b="0">
                <a:solidFill>
                  <a:srgbClr val="F8FAFC"/>
                </a:solidFill>
                <a:latin typeface="Segoe UI"/>
              </a:rPr>
              <a:t>Full tenant administrative control, subscription billing management, and user deletion.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Consolas"/>
              </a:defRPr>
            </a:pPr>
            <a:r>
              <a:t>ADMINISTRATOR: </a:t>
            </a:r>
            <a:r>
              <a:rPr sz="900" b="0">
                <a:solidFill>
                  <a:srgbClr val="F8FAFC"/>
                </a:solidFill>
                <a:latin typeface="Segoe UI"/>
              </a:rPr>
              <a:t>User invitation, role assignment, and organization configuration management.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Consolas"/>
              </a:defRPr>
            </a:pPr>
            <a:r>
              <a:t>PORTFOLIO_MANAGER: </a:t>
            </a:r>
            <a:r>
              <a:rPr sz="900" b="0">
                <a:solidFill>
                  <a:srgbClr val="F8FAFC"/>
                </a:solidFill>
                <a:latin typeface="Segoe UI"/>
              </a:rPr>
              <a:t>Multi-account oversight, strategy allocation, and promotion review authorization.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Consolas"/>
              </a:defRPr>
            </a:pPr>
            <a:r>
              <a:t>RISK_OFFICER: </a:t>
            </a:r>
            <a:r>
              <a:rPr sz="900" b="0">
                <a:solidFill>
                  <a:srgbClr val="F8FAFC"/>
                </a:solidFill>
                <a:latin typeface="Segoe UI"/>
              </a:rPr>
              <a:t>Pre-trade risk limit adjustment, drawdown threshold oversight, and strategy halt controls.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Consolas"/>
              </a:defRPr>
            </a:pPr>
            <a:r>
              <a:t>TRADER: </a:t>
            </a:r>
            <a:r>
              <a:rPr sz="900" b="0">
                <a:solidFill>
                  <a:srgbClr val="F8FAFC"/>
                </a:solidFill>
                <a:latin typeface="Segoe UI"/>
              </a:rPr>
              <a:t>Order creation, trade execution, strategy parameter formulation, and backtesting.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Consolas"/>
              </a:defRPr>
            </a:pPr>
            <a:r>
              <a:t>AUDITOR: </a:t>
            </a:r>
            <a:r>
              <a:rPr sz="900" b="0">
                <a:solidFill>
                  <a:srgbClr val="F8FAFC"/>
                </a:solidFill>
                <a:latin typeface="Segoe UI"/>
              </a:rPr>
              <a:t>Read-only access to immutable audit trails, trade logs, and compliance records.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Consolas"/>
              </a:defRPr>
            </a:pPr>
            <a:r>
              <a:t>VIEWER: </a:t>
            </a:r>
            <a:r>
              <a:rPr sz="900" b="0">
                <a:solidFill>
                  <a:srgbClr val="F8FAFC"/>
                </a:solidFill>
                <a:latin typeface="Segoe UI"/>
              </a:rPr>
              <a:t>Read-only access to dashboard portfolio metrics and performance analytics.</a:t>
            </a:r>
          </a:p>
          <a:p>
            <a:pPr>
              <a:spcBef>
                <a:spcPts val="800"/>
              </a:spcBef>
              <a:defRPr sz="900" b="1">
                <a:solidFill>
                  <a:srgbClr val="FBBF24"/>
                </a:solidFill>
                <a:latin typeface="Segoe UI"/>
              </a:defRPr>
            </a:pPr>
            <a:r>
              <a:t>41 Granular Permissions across 14 Functional Domains: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Governs orders:create, positions:close, research:backtest, optimization:run, deployments:promote, audit:read, billing:manage, org:invite, and 33 additional programmatic 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PROJECT ORION  │  ACQUISITION DUE DILIGENCE  │  SLIDE 12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Security, Auditability &amp; Operations — Enterprise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Perimeter Defense, HTTP Security Headers, Immutable Audit Trail &amp; Health Probes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Baseline: d5908d0a │ STRICT PAPER TRADING ONLY │ $0.00 Live Financial Capital at Risk │ Proposed Transferable Software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49377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onsolas"/>
              </a:defRPr>
            </a:pPr>
            <a:r>
              <a:t>AUTHENTICATION &amp; PERIMETER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Stateless Tokens &amp; Password Hashing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Stateless JWT HS256 authentication with configurable token expiration.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Bcrypt password hashing (work factor 12) with salted storage in UserModel.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IP-based and tenant-based rate limiting via Redis with in-memory degraded fallback.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Strict CORS middleware with configurable origin allowlists for SPA domain binding.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45920"/>
            <a:ext cx="521208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5255" y="1755648"/>
            <a:ext cx="49377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HTTP SECURITY HEADERS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Defensive Browser Policies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Strict-Transport-Security (HSTS): max-age=31536000; includeSubDomains.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Content-Security-Policy (CSP): Restricts external script and style execution.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X-Frame-Options: DENY (architecturally prevents clickjacking attacks).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X-Content-Type-Options: nosniff &amp; X-XSS-Protection: 1; mode=block.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521208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95928"/>
            <a:ext cx="49377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onsolas"/>
              </a:defRPr>
            </a:pPr>
            <a:r>
              <a:t>IMMUTABLE AUDIT LOGGING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Structured Event Trail (AuditLogModel)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Records key operational actions: ORDER_CREATE, USER_REGISTER, STRATEGY_DEPLOY.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Captures acting user ID, organization ID, component tag, and exact UTC timestamp.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Stores contextual metadata in structured JSON details column for compliance review.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Audit trail queryable via dedicated Auditor role interface (/api/v1/audit).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3886200"/>
            <a:ext cx="521208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5255" y="3995928"/>
            <a:ext cx="49377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OPERATIONAL OBSERVABILITY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Health Probes &amp; Metrics Export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/health/live: Immediate liveness probe for load balancer orchestration.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/health/ready: Deep readiness probe verifying PostgreSQL and Redis connections.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/metrics: Prometheus metrics endpoint exporting request counts and latencies.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Structured JSON application logging with correlation ID request tracing.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PROJECT ORION  │  ACQUISITION DUE DILIGENCE  │  SLIDE 13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Deployment, Backup &amp; Recovery — PaaS Blueprint &amp; DR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Declarative Render PaaS Infrastructure-as-Code &amp; Benchmark Disaster Recovery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Baseline: d5908d0a │ STRICT PAPER TRADING ONLY │ $0.00 Live Financial Capital at Risk │ Proposed Transferable Software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DECLARATIVE PAAS BLUEPRINT (render.yaml)</a:t>
            </a:r>
          </a:p>
          <a:p>
            <a:pPr>
              <a:spcBef>
                <a:spcPts val="7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Infrastructure Topology: </a:t>
            </a:r>
            <a:r>
              <a:rPr b="0">
                <a:solidFill>
                  <a:srgbClr val="F8FAFC"/>
                </a:solidFill>
              </a:rPr>
              <a:t>4-tier architecture: FastAPI web service ('starter'), React static SPA ('free'), PostgreSQL 16 ('basic-1gb'), and Redis 7 ('free').</a:t>
            </a:r>
          </a:p>
          <a:p>
            <a:pPr>
              <a:spcBef>
                <a:spcPts val="7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Base Hosting Cost Estimate: </a:t>
            </a:r>
            <a:r>
              <a:rPr b="0">
                <a:solidFill>
                  <a:srgbClr val="F8FAFC"/>
                </a:solidFill>
              </a:rPr>
              <a:t>Baseline cloud hosting configured on Render for approximately $14/month ($7 DB + $7 API under published 2026 pricing).</a:t>
            </a:r>
          </a:p>
          <a:p>
            <a:pPr>
              <a:spcBef>
                <a:spcPts val="7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Decoupled Migrations: </a:t>
            </a:r>
            <a:r>
              <a:rPr b="0">
                <a:solidFill>
                  <a:srgbClr val="F8FAFC"/>
                </a:solidFill>
              </a:rPr>
              <a:t>Executed via preDeployCommand (python scripts/deploy/migrate.py) before application boot, preventing dirty schema starts.</a:t>
            </a:r>
          </a:p>
          <a:p>
            <a:pPr>
              <a:spcBef>
                <a:spcPts val="7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Zero Secrets in Repository: </a:t>
            </a:r>
            <a:r>
              <a:rPr b="0">
                <a:solidFill>
                  <a:srgbClr val="F8FAFC"/>
                </a:solidFill>
              </a:rPr>
              <a:t>All database credentials, JWT keys, and API tokens injected dynamically via environment variables.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45920"/>
            <a:ext cx="5212080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onsolas"/>
              </a:defRPr>
            </a:pPr>
            <a:r>
              <a:t>DISASTER RECOVERY BENCHMARK &amp; MIGRATIONS</a:t>
            </a:r>
          </a:p>
          <a:p>
            <a:pPr>
              <a:spcBef>
                <a:spcPts val="7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Historical Restore Benchmark: </a:t>
            </a:r>
            <a:r>
              <a:rPr b="0">
                <a:solidFill>
                  <a:srgbClr val="F8FAFC"/>
                </a:solidFill>
              </a:rPr>
              <a:t>Documented test benchmark demonstrating physical schema and data restoration across 29 tables in ~7.2 seconds in an isolated testing container.</a:t>
            </a:r>
          </a:p>
          <a:p>
            <a:pPr>
              <a:spcBef>
                <a:spcPts val="7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Tested DR Runbook: </a:t>
            </a:r>
            <a:r>
              <a:rPr b="0">
                <a:solidFill>
                  <a:srgbClr val="F8FAFC"/>
                </a:solidFill>
              </a:rPr>
              <a:t>Complete restoration procedures documented in docs/acquisition/08-BACKUP-RESTORE-RUNBOOK.md.</a:t>
            </a:r>
          </a:p>
          <a:p>
            <a:pPr>
              <a:spcBef>
                <a:spcPts val="7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Linear Schema Evolution: </a:t>
            </a:r>
            <a:r>
              <a:rPr b="0">
                <a:solidFill>
                  <a:srgbClr val="F8FAFC"/>
                </a:solidFill>
              </a:rPr>
              <a:t>15 linear Alembic migration revisions maintaining deterministic database upgrades and rollbacks.</a:t>
            </a:r>
          </a:p>
          <a:p>
            <a:pPr>
              <a:spcBef>
                <a:spcPts val="7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Automated Verification Scripts: </a:t>
            </a:r>
            <a:r>
              <a:rPr b="0">
                <a:solidFill>
                  <a:srgbClr val="F8FAFC"/>
                </a:solidFill>
              </a:rPr>
              <a:t>backup/restore-database.sh automated shell script verified against local PostgreSQL instances.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PROJECT ORION  │  ACQUISITION DUE DILIGENCE  │  SLIDE 14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Technical Asset &amp; IP Inventory — Codebase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Documented Historical Baseline of 4,260 Automated Tests, 99.4% Coverage &amp; 18 Due Diligence Dossiers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Baseline: d5908d0a │ STRICT PAPER TRADING ONLY │ $0.00 Live Financial Capital at Risk │ Proposed Transferable Software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37360"/>
            <a:ext cx="32095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onsolas"/>
              </a:defRPr>
            </a:pPr>
            <a:r>
              <a:t>SOURCE CODE ASSET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Proposed Transferable Codebase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Full Git repository with unbroken commit provenance.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Python 3.11+ FastAPI backend (24 modular routers).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React 18 + Vite frontend SPA (20 client routes).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21 internal domain packages under libraries/domain/.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45920"/>
            <a:ext cx="342900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737360"/>
            <a:ext cx="32095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TEST HARNESS BASELINE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Documented Historical Evidence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4,260 automated tests across 103 test suites.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99.4% test coverage across core domain modules.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Deterministic backtesting and leakage regression suites.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Continuous execution via standard pytest commands.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645920"/>
            <a:ext cx="342900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737360"/>
            <a:ext cx="32095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DATABASE ARCHITECTURE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PostgreSQL 16 &amp; Alembic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29 relational tables managing accounts, orders &amp; risks.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15 linear Alembic migration revisions.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SQLAlchemy 2.0 Async declarative ORM models.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Tenant isolation enforced on all entity relations.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342900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977639"/>
            <a:ext cx="32095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DUE DILIGENCE DATA ROOM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18 Comprehensive Dossiers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Tier 1: Executive &amp; Architectural Orientation (01-03).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Tier 2: Technical Deep-Dive &amp; Harness Audit (04-10).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Tier 3: Operational &amp; Dependency Audit (11-14).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Tier 4: Transaction, IP &amp; Account Transfer (15-18).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3886200"/>
            <a:ext cx="342900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3977639"/>
            <a:ext cx="32095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OPEN-SOURCE COMPLIANCE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Commercially Permissive SBOM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Permissive open-source licensing: MIT, Apache 2.0, BSD-3-Clause.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Zero copyleft (GPL / AGPL) code contamination.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Complete Software Bill of Materials (12-DEPENDENCY-SBOM.md).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Automated dependency vulnerability scan history.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3886200"/>
            <a:ext cx="3429000" cy="2103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3977639"/>
            <a:ext cx="32095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onsolas"/>
              </a:defRPr>
            </a:pPr>
            <a:r>
              <a:t>INFRASTRUCTURE BLUEPRINTS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Ready for Cloud Deployment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render.yaml declarative 4-tier infrastructure blueprint.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Docker container configurations for API and frontend.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Automated preDeployCommand database migration script.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~$14/month baseline configuration hosting estimate.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PROJECT ORION  │  ACQUISITION DUE DILIGENCE  │  SLIDE 15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Acquisition Scope, Handover &amp; Known Limitations — Transaction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Clear Delineation of Proprietary Deliverables, Buyer Obligations, and Engineering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1045433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Baseline: d5908d0a │ STRICT PAPER TRADING ONLY │ $0.00 Live Financial Capital at Risk │ Proposed Transferable Software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Consolas"/>
              </a:defRPr>
            </a:pPr>
            <a:r>
              <a:t>PROPOSED TRANSACTION SCOPE &amp; HANDOVER</a:t>
            </a:r>
          </a:p>
          <a:p>
            <a:pPr>
              <a:spcBef>
                <a:spcPts val="400"/>
              </a:spcBef>
              <a:defRPr sz="900" b="1">
                <a:solidFill>
                  <a:srgbClr val="10B981"/>
                </a:solidFill>
                <a:latin typeface="Segoe UI"/>
              </a:defRPr>
            </a:pPr>
            <a:r>
              <a:t>Proposed Transferable Software Scope: </a:t>
            </a:r>
            <a:r>
              <a:rPr b="0">
                <a:solidFill>
                  <a:srgbClr val="F8FAFC"/>
                </a:solidFill>
              </a:rPr>
              <a:t>Complete Git source repository, test suites, database models, and 18 closing dossiers, subject to executed agreements.</a:t>
            </a:r>
          </a:p>
          <a:p>
            <a:pPr>
              <a:spcBef>
                <a:spcPts val="400"/>
              </a:spcBef>
              <a:defRPr sz="900" b="1">
                <a:solidFill>
                  <a:srgbClr val="10B981"/>
                </a:solidFill>
                <a:latin typeface="Segoe UI"/>
              </a:defRPr>
            </a:pPr>
            <a:r>
              <a:t>Independent Account Provisioning Path: </a:t>
            </a:r>
            <a:r>
              <a:rPr b="0">
                <a:solidFill>
                  <a:srgbClr val="F8FAFC"/>
                </a:solidFill>
              </a:rPr>
              <a:t>Third-party vendor account transferability is not established in the repository. To eliminate friction, the buyer independently provisions their own accounts:</a:t>
            </a:r>
          </a:p>
          <a:p>
            <a:pPr>
              <a:spcBef>
                <a:spcPts val="400"/>
              </a:spcBef>
              <a:defRPr sz="900" b="1">
                <a:solidFill>
                  <a:srgbClr val="10B981"/>
                </a:solidFill>
                <a:latin typeface="Segoe UI"/>
              </a:defRPr>
            </a:pPr>
            <a:r>
              <a:t>• Cloud Hosting: </a:t>
            </a:r>
            <a:r>
              <a:rPr b="0">
                <a:solidFill>
                  <a:srgbClr val="F8FAFC"/>
                </a:solidFill>
              </a:rPr>
              <a:t>Buyer creates their own Render account (~$14/mo baseline hosting config estimate).</a:t>
            </a:r>
          </a:p>
          <a:p>
            <a:pPr>
              <a:spcBef>
                <a:spcPts val="400"/>
              </a:spcBef>
              <a:defRPr sz="900" b="1">
                <a:solidFill>
                  <a:srgbClr val="10B981"/>
                </a:solidFill>
                <a:latin typeface="Segoe UI"/>
              </a:defRPr>
            </a:pPr>
            <a:r>
              <a:t>• Payment Gateway: </a:t>
            </a:r>
            <a:r>
              <a:rPr b="0">
                <a:solidFill>
                  <a:srgbClr val="F8FAFC"/>
                </a:solidFill>
              </a:rPr>
              <a:t>Buyer provisions their own Stripe merchant account.</a:t>
            </a:r>
          </a:p>
          <a:p>
            <a:pPr>
              <a:spcBef>
                <a:spcPts val="400"/>
              </a:spcBef>
              <a:defRPr sz="900" b="1">
                <a:solidFill>
                  <a:srgbClr val="10B981"/>
                </a:solidFill>
                <a:latin typeface="Segoe UI"/>
              </a:defRPr>
            </a:pPr>
            <a:r>
              <a:t>• Market Data: </a:t>
            </a:r>
            <a:r>
              <a:rPr b="0">
                <a:solidFill>
                  <a:srgbClr val="F8FAFC"/>
                </a:solidFill>
              </a:rPr>
              <a:t>Buyer provisions TwelveData API key for live quotes.</a:t>
            </a:r>
          </a:p>
          <a:p>
            <a:pPr>
              <a:spcBef>
                <a:spcPts val="400"/>
              </a:spcBef>
              <a:defRPr sz="900" b="1">
                <a:solidFill>
                  <a:srgbClr val="10B981"/>
                </a:solidFill>
                <a:latin typeface="Segoe UI"/>
              </a:defRPr>
            </a:pPr>
            <a:r>
              <a:t>• Broker Sandbox: </a:t>
            </a:r>
            <a:r>
              <a:rPr b="0">
                <a:solidFill>
                  <a:srgbClr val="F8FAFC"/>
                </a:solidFill>
              </a:rPr>
              <a:t>Buyer registers OANDA Practice credentials.</a:t>
            </a:r>
          </a:p>
          <a:p>
            <a:pPr>
              <a:spcBef>
                <a:spcPts val="400"/>
              </a:spcBef>
              <a:defRPr sz="900" b="1">
                <a:solidFill>
                  <a:srgbClr val="10B981"/>
                </a:solidFill>
                <a:latin typeface="Segoe UI"/>
              </a:defRPr>
            </a:pPr>
            <a:r>
              <a:t>• Domain &amp; DNS: </a:t>
            </a:r>
            <a:r>
              <a:rPr b="0">
                <a:solidFill>
                  <a:srgbClr val="F8FAFC"/>
                </a:solidFill>
              </a:rPr>
              <a:t>Buyer purchases proprietary domain &amp; TLS certificates.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45920"/>
            <a:ext cx="5212080" cy="4343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BBF24"/>
                </a:solidFill>
                <a:latin typeface="Consolas"/>
              </a:defRPr>
            </a:pPr>
            <a:r>
              <a:t>TRANSPARENT ENGINEERING BOUNDARIES &amp; COMMERCIAL STATUS</a:t>
            </a:r>
          </a:p>
          <a:p>
            <a:pPr>
              <a:spcBef>
                <a:spcPts val="600"/>
              </a:spcBef>
              <a:defRPr sz="900" b="1">
                <a:solidFill>
                  <a:srgbClr val="FBBF24"/>
                </a:solidFill>
                <a:latin typeface="Segoe UI"/>
              </a:defRPr>
            </a:pPr>
            <a:r>
              <a:t>• Commercial Revenue Status: </a:t>
            </a:r>
            <a:r>
              <a:rPr b="0">
                <a:solidFill>
                  <a:srgbClr val="F8FAFC"/>
                </a:solidFill>
              </a:rPr>
              <a:t>Pre-revenue technology asset. Paying customers, active subscribers, and recurring revenue are NOT ESTABLISHED IN REPOSITORY.</a:t>
            </a:r>
          </a:p>
          <a:p>
            <a:pPr>
              <a:spcBef>
                <a:spcPts val="600"/>
              </a:spcBef>
              <a:defRPr sz="900" b="1">
                <a:solidFill>
                  <a:srgbClr val="FBBF24"/>
                </a:solidFill>
                <a:latin typeface="Segoe UI"/>
              </a:defRPr>
            </a:pPr>
            <a:r>
              <a:t>• Stateless REST Polling: </a:t>
            </a:r>
            <a:r>
              <a:rPr b="0">
                <a:solidFill>
                  <a:srgbClr val="F8FAFC"/>
                </a:solidFill>
              </a:rPr>
              <a:t>Client updates via on-demand HTTP REST polling; continuous WebSocket push endpoints are not implemented.</a:t>
            </a:r>
          </a:p>
          <a:p>
            <a:pPr>
              <a:spcBef>
                <a:spcPts val="600"/>
              </a:spcBef>
              <a:defRPr sz="900" b="1">
                <a:solidFill>
                  <a:srgbClr val="FBBF24"/>
                </a:solidFill>
                <a:latin typeface="Segoe UI"/>
              </a:defRPr>
            </a:pPr>
            <a:r>
              <a:t>• Single-Process Worker: </a:t>
            </a:r>
            <a:r>
              <a:rPr b="0">
                <a:solidFill>
                  <a:srgbClr val="F8FAFC"/>
                </a:solidFill>
              </a:rPr>
              <a:t>Autonomous worker designed as single-process event loop; horizontal worker scaling requires future Celery/Redis queue adoption.</a:t>
            </a:r>
          </a:p>
          <a:p>
            <a:pPr>
              <a:spcBef>
                <a:spcPts val="600"/>
              </a:spcBef>
              <a:defRPr sz="900" b="1">
                <a:solidFill>
                  <a:srgbClr val="FBBF24"/>
                </a:solidFill>
                <a:latin typeface="Segoe UI"/>
              </a:defRPr>
            </a:pPr>
            <a:r>
              <a:t>• Paper Trading Scope: </a:t>
            </a:r>
            <a:r>
              <a:rPr b="0">
                <a:solidFill>
                  <a:srgbClr val="F8FAFC"/>
                </a:solidFill>
              </a:rPr>
              <a:t>Software strictly terminates at paper validation. Commercial broker deployment requires buyer regulatory licensing.</a:t>
            </a:r>
          </a:p>
          <a:p>
            <a:pPr>
              <a:spcBef>
                <a:spcPts val="600"/>
              </a:spcBef>
              <a:defRPr sz="900" b="1">
                <a:solidFill>
                  <a:srgbClr val="FBBF24"/>
                </a:solidFill>
                <a:latin typeface="Segoe UI"/>
              </a:defRPr>
            </a:pPr>
            <a:r>
              <a:t>• Strict Liability &amp; Risk: </a:t>
            </a:r>
            <a:r>
              <a:rPr b="0">
                <a:solidFill>
                  <a:srgbClr val="F8FAFC"/>
                </a:solidFill>
              </a:rPr>
              <a:t>Platform operates with exactly $0.00 live financial capital at risk under all demonstrated execution paths.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